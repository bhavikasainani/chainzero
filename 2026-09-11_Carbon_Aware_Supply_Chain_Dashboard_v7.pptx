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3A26"/>
                </a:solidFill>
                <a:latin typeface="Calibri"/>
              </a:rPr>
              <a:t>Blind Spot Index by supplier tier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Blind Spot Index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6A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13.5</c:v>
                </c:pt>
                <c:pt idx="1">
                  <c:v>11</c:v>
                </c:pt>
                <c:pt idx="2">
                  <c:v>62.6</c:v>
                </c:pt>
                <c:pt idx="3">
                  <c:v>14.2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E4E7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team line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diagram. The eye finds the orange node before you finish the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 data supports the magnitude: the International Aluminium Institute reports primary aluminium at 15.1 tCO2e per tonne against 0.52 for recycled, roughly a 95 percent saving. Our engine uses DEFRA factors, which are more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line: coverage reads 93 percent, but 41 percent of spend is unverified. The footprint is not wrong, it is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solidFill>
            <a:srgbClr val="EEF3E9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3108960" cy="3108960"/>
          </a:xfrm>
          <a:prstGeom prst="ellipse">
            <a:avLst/>
          </a:prstGeom>
          <a:solidFill>
            <a:srgbClr val="F3F6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CIRCULAR CARBON ECOSYSTEM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Carbon-Aware Supply Chain Dashboard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Scope 3 accounting across multi-tier suppliers, plus a measure of what a company cannot see.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4572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47091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· Institute · Submission date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emissions you cannot see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collapses one step past the suppliers a company pays directly.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typical footprint sits in the value chain, not owned operations.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46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and ISSB deadlines make Scope 3 disclosure mandatory.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reduction budgets are spent above this line.</a:t>
            </a:r>
            <a:endParaRPr lang="en-US" sz="1300" dirty="0"/>
          </a:p>
        </p:txBody>
      </p:sp>
      <p:pic>
        <p:nvPicPr>
          <p:cNvPr id="9" name="Image 0" descr="/home/claude/diag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537960" cy="41422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Supply Chain Dashboard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through on aluminium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is where the arithmetic gets interesting, because virgin and recycled material differ by roughly an order of magnitude.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577840" cy="960120"/>
          </a:xfrm>
          <a:prstGeom prst="rect">
            <a:avLst/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41148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762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Activity-based engine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materials and freight converted using published DEFRA, EPA and IEA factors, mapped to GHG Protocol categories 1, 3 and 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5577840" cy="804672"/>
          </a:xfrm>
          <a:prstGeom prst="rect">
            <a:avLst/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90672"/>
            <a:ext cx="41148" cy="8046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5526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propagation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39312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Deep-tier emissions attributed upward with explicit allocation shares.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5577840" cy="804672"/>
          </a:xfrm>
          <a:prstGeom prst="rect">
            <a:avLst/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14216"/>
            <a:ext cx="41148" cy="8046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17880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6285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figure to see how it was derived.</a:t>
            </a:r>
            <a:endParaRPr lang="en-US" sz="1200" dirty="0"/>
          </a:p>
        </p:txBody>
      </p:sp>
      <p:pic>
        <p:nvPicPr>
          <p:cNvPr id="16" name="Image 0" descr="/home/claude/diag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54480"/>
            <a:ext cx="5166360" cy="391363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48640" y="52578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BF1E4"/>
          </a:solidFill>
          <a:ln w="12700">
            <a:solidFill>
              <a:srgbClr val="E8CFA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" y="5349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smelter, 2,850 tonnes of aluminium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04672" y="56509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 35,625 tCO2e → recycled 4,418 tCO2e. Switching material and shifting air freight to sea removes 41,896 tCO2e, or 47% of the whole chain.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Supply Chain Dashboard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calculation is deterministic. Machine learning only fills gaps in supplier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51914" cy="2148840"/>
          </a:xfrm>
          <a:prstGeom prst="roundRect">
            <a:avLst>
              <a:gd name="adj" fmla="val 3565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762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1594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1594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CSV validated against a fixed schema.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01722" y="1965960"/>
            <a:ext cx="2051914" cy="2148840"/>
          </a:xfrm>
          <a:prstGeom prst="roundRect">
            <a:avLst>
              <a:gd name="adj" fmla="val 3565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0322" y="21762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30322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30322" y="2697480"/>
            <a:ext cx="1594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030322" y="3108960"/>
            <a:ext cx="1594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factors applied per GHG Protocol category.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4803" y="1965960"/>
            <a:ext cx="2051914" cy="2148840"/>
          </a:xfrm>
          <a:prstGeom prst="roundRect">
            <a:avLst>
              <a:gd name="adj" fmla="val 3565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3403" y="21762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83403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83403" y="2697480"/>
            <a:ext cx="1594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83403" y="3108960"/>
            <a:ext cx="1594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moved upward through 400+ weighted links.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07885" y="1965960"/>
            <a:ext cx="2051914" cy="2148840"/>
          </a:xfrm>
          <a:prstGeom prst="roundRect">
            <a:avLst>
              <a:gd name="adj" fmla="val 3565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6485" y="21762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36485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36485" y="2697480"/>
            <a:ext cx="1594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536485" y="3108960"/>
            <a:ext cx="1594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ranking and the Blind Spot Index.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60966" y="1965960"/>
            <a:ext cx="2051914" cy="2148840"/>
          </a:xfrm>
          <a:prstGeom prst="roundRect">
            <a:avLst>
              <a:gd name="adj" fmla="val 3565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9566" y="21762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8956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789566" y="2697480"/>
            <a:ext cx="1594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789566" y="3108960"/>
            <a:ext cx="1594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recomputed live; auditor export.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 rot="5400000">
            <a:off x="2627986" y="2944368"/>
            <a:ext cx="146304" cy="182880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30" name="Shape 28"/>
          <p:cNvSpPr/>
          <p:nvPr/>
        </p:nvSpPr>
        <p:spPr>
          <a:xfrm rot="5400000">
            <a:off x="4881067" y="2944368"/>
            <a:ext cx="146304" cy="182880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31" name="Shape 29"/>
          <p:cNvSpPr/>
          <p:nvPr/>
        </p:nvSpPr>
        <p:spPr>
          <a:xfrm rot="5400000">
            <a:off x="7134149" y="2944368"/>
            <a:ext cx="146304" cy="182880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32" name="Shape 30"/>
          <p:cNvSpPr/>
          <p:nvPr/>
        </p:nvSpPr>
        <p:spPr>
          <a:xfrm rot="5400000">
            <a:off x="9387230" y="2944368"/>
            <a:ext cx="146304" cy="182880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983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26694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Vite, D3.js, Tailwind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401568" y="48920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30168" y="4983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630168" y="526694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pure functions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54496" y="48920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83096" y="4983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483096" y="526694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versioned factors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107424" y="48920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36024" y="4983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and ML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336024" y="526694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NetworkX, scikit-learn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Supply Chain Dashboard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Blind Spot Index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not find an existing tool that reports this, so we built the metric ourselves. It is the share of procurement spend running through suppliers that never reported.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760720" cy="1463040"/>
          </a:xfrm>
          <a:prstGeom prst="roundRect">
            <a:avLst>
              <a:gd name="adj" fmla="val 5000"/>
            </a:avLst>
          </a:prstGeom>
          <a:solidFill>
            <a:srgbClr val="FBF1E4"/>
          </a:solidFill>
          <a:ln w="12700">
            <a:solidFill>
              <a:srgbClr val="E8CF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46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41.2%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spend unmeasured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 reads 93.3%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41.2% of spend is unverified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Band: Weak, do not publish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prototype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88,639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tCO2e across 200 suppliers and 413 supply links.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9776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46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52.6%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comes from one supplier that reports nothing.</a:t>
            </a:r>
            <a:endParaRPr lang="en-US" sz="12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583680" y="155448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Supply Chain Dashboard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554480"/>
          </a:xfrm>
          <a:prstGeom prst="rect">
            <a:avLst/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41148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361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3429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stack carries a licence fee, and the published factor sets are free to use.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18304" y="1371600"/>
            <a:ext cx="3127248" cy="1554480"/>
          </a:xfrm>
          <a:prstGeom prst="rect">
            <a:avLst/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18304" y="1371600"/>
            <a:ext cx="41148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92624" y="1536192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1920240"/>
            <a:ext cx="2624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matches how suppliers already send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83296" y="1371600"/>
            <a:ext cx="3529584" cy="1554480"/>
          </a:xfrm>
          <a:prstGeom prst="rect">
            <a:avLst/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83296" y="1371600"/>
            <a:ext cx="41148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7616" y="15361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1920240"/>
            <a:ext cx="3026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can trace any figure back to its source, and managers can see which nodes are worth spending money on.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risks and mitigations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498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 fail to report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are quantified by the Blind Spot Index rather than hidden.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Factors differ by region and vintage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tables are versioned and cited, so any report reproduces exactly.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mistaken for measurements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figures are visually distinguished everywhere.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6F8F3"/>
          </a:solidFill>
          <a:ln w="12700">
            <a:solidFill>
              <a:srgbClr val="E4E8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falls as suppliers start reporting, which gives a company a reason to open the dashboard every quarter rather than once a year.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Supply Chain Dashboard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" y="1353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6733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self-service portal, driving the Blind Spot Index down each quarter.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1148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496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163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abatement cost curve ranking interventions by tonnes saved per unit of spend.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41148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3639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term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9593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connectors replacing CSV upload, plus assurance of the audit export.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719072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Protocol Corporate Value Chain (Scope 3) Standard (category definitions and boundary rules)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DEFRA conversion factors (material intensities, freight per tonne-kilometre)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EPA eGRID, IEA and Australian National Greenhouse Accounts (grid electricity intensity)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Aluminium Institute (primary against recycled aluminium)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and ISSB disclosure requirements (regulatory context)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Supply Chain Dashboard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Carbon-Aware Supply Chain Dashboard</dc:title>
  <dc:subject>PptxGenJS Presentation</dc:subject>
  <dc:creator>Project team</dc:creator>
  <cp:lastModifiedBy>Project team</cp:lastModifiedBy>
  <cp:revision>1</cp:revision>
  <dcterms:created xsi:type="dcterms:W3CDTF">2026-09-11T17:41:21Z</dcterms:created>
  <dcterms:modified xsi:type="dcterms:W3CDTF">2026-09-11T17:41:21Z</dcterms:modified>
</cp:coreProperties>
</file>